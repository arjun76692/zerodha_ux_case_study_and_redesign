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19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0947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jpeg"/><Relationship Id="rId7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7ED1"/>
          </a:solidFill>
          <a:ln w="1270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2971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ZERODHA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20040" y="9982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87E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KITE + COIN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65760" y="1638300"/>
            <a:ext cx="4114800" cy="0"/>
          </a:xfrm>
          <a:prstGeom prst="line">
            <a:avLst/>
          </a:prstGeom>
          <a:noFill/>
          <a:ln w="1905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301752" y="15468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8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Audit, Competitive Analysis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8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Redesign Proposal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97180" y="224409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India's most trusted broker forces 13M+ users to juggle two apps — and how to fix it.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0797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UX Research &amp; Design  ·  Heuristic Evaluation + PRD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274320"/>
            <a:ext cx="3200400" cy="4572000"/>
          </a:xfrm>
          <a:prstGeom prst="rect">
            <a:avLst/>
          </a:prstGeom>
          <a:solidFill>
            <a:srgbClr val="243369"/>
          </a:solidFill>
          <a:ln w="12700">
            <a:solidFill>
              <a:srgbClr val="2E4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566928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 vs Angel One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3232404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243369"/>
          </a:solidFill>
          <a:ln w="12700">
            <a:solidFill>
              <a:srgbClr val="2E4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393192" y="331774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7E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13M+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331470" y="361416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Zerodha users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057400" y="3232404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243369"/>
          </a:solidFill>
          <a:ln w="12700">
            <a:solidFill>
              <a:srgbClr val="2E4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2057400" y="331393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7E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2057400" y="36073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required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776472" y="3232404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243369"/>
          </a:solidFill>
          <a:ln w="12700">
            <a:solidFill>
              <a:srgbClr val="2E408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0" name="Text 16"/>
          <p:cNvSpPr/>
          <p:nvPr/>
        </p:nvSpPr>
        <p:spPr>
          <a:xfrm>
            <a:off x="3749040" y="32872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7E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3721608" y="360654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invest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57200"/>
            <a:ext cx="1280160" cy="274320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640080"/>
            <a:ext cx="1280160" cy="274320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Two-App Tax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solidFill>
            <a:srgbClr val="EBF2FC"/>
          </a:solidFill>
          <a:ln w="1270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54864" cy="914400"/>
          </a:xfrm>
          <a:prstGeom prst="rect">
            <a:avLst/>
          </a:prstGeom>
          <a:solidFill>
            <a:srgbClr val="387ED1"/>
          </a:solidFill>
          <a:ln w="1270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Zerodha users who invest in both equities and mutual funds must operate two separate apps — Kite for stocks/ETFs and Coin for mutual funds — despite sharing a single demat account. Every major competitor has solved this. Zerodha has not.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011680" cy="2560320"/>
          </a:xfrm>
          <a:prstGeom prst="rect">
            <a:avLst/>
          </a:prstGeom>
          <a:solidFill>
            <a:srgbClr val="FDEAEA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2011680" cy="54864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" y="2240280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Portfolio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697480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view of total net wealth. Equity P&amp;L in Kite, MF value in Coin. Users must mentally reconcile two screens.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2148840"/>
            <a:ext cx="2011680" cy="2560320"/>
          </a:xfrm>
          <a:prstGeom prst="rect">
            <a:avLst/>
          </a:prstGeom>
          <a:solidFill>
            <a:srgbClr val="FDF6E3"/>
          </a:solidFill>
          <a:ln w="12700">
            <a:solidFill>
              <a:srgbClr val="B87B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514600" y="2148840"/>
            <a:ext cx="2011680" cy="54864"/>
          </a:xfrm>
          <a:prstGeom prst="rect">
            <a:avLst/>
          </a:prstGeom>
          <a:solidFill>
            <a:srgbClr val="B87B0A"/>
          </a:solidFill>
          <a:ln w="12700">
            <a:solidFill>
              <a:srgbClr val="B87B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624328" y="2240280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Invest Flow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24328" y="2697480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screens + 1 mandatory app switch to invest in a stock and a SIP. Angel One achieves same in 7 screens, 0 switches.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148840"/>
            <a:ext cx="2011680" cy="2560320"/>
          </a:xfrm>
          <a:prstGeom prst="rect">
            <a:avLst/>
          </a:prstGeom>
          <a:solidFill>
            <a:srgbClr val="EBF2FC"/>
          </a:solidFill>
          <a:ln w="1270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63440" y="2148840"/>
            <a:ext cx="2011680" cy="54864"/>
          </a:xfrm>
          <a:prstGeom prst="rect">
            <a:avLst/>
          </a:prstGeom>
          <a:solidFill>
            <a:srgbClr val="387ED1"/>
          </a:solidFill>
          <a:ln w="1270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73168" y="2240280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Search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73168" y="2697480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cross-instrument search. Typing 'HDFC' in Kite never shows HDFC Flexi Cap Fund. Two separate search paradigms.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12280" y="2148840"/>
            <a:ext cx="2011680" cy="2560320"/>
          </a:xfrm>
          <a:prstGeom prst="rect">
            <a:avLst/>
          </a:prstGeom>
          <a:solidFill>
            <a:srgbClr val="E8F5EE"/>
          </a:solidFill>
          <a:ln w="12700">
            <a:solidFill>
              <a:srgbClr val="1E8A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812280" y="2148840"/>
            <a:ext cx="2011680" cy="54864"/>
          </a:xfrm>
          <a:prstGeom prst="rect">
            <a:avLst/>
          </a:prstGeom>
          <a:solidFill>
            <a:srgbClr val="1E8A54"/>
          </a:solidFill>
          <a:ln w="12700">
            <a:solidFill>
              <a:srgbClr val="1E8A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922008" y="2240280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 Mismatch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22008" y="2697480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think of one Zerodha account. The system presents two apps with different design languages and navigation patterns.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4F7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Integrating Coin's MF functionality as a tab inside Kite will reduce task completion time by ≥40% and increase cross-product activation by ≥25%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HEURISTIC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Nielsen's 10 Principles — Kite + Coin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0" y="13716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995160" y="13716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046720" y="13716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74320" y="960120"/>
            <a:ext cx="8686800" cy="27432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74320" y="960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0" y="960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89120" y="960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66360" y="9601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58200" y="9601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234440"/>
            <a:ext cx="8686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4320" y="12527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Visibility of status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11880" y="1307592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FDF6E3"/>
          </a:solidFill>
          <a:ln w="12700">
            <a:solidFill>
              <a:srgbClr val="B87B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11880" y="13075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7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89120" y="1307592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FDF6E3"/>
          </a:solidFill>
          <a:ln w="12700">
            <a:solidFill>
              <a:srgbClr val="B87B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389120" y="13075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7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66360" y="12527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order status invisible from Kite. 'Processing' shows no ETA.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458200" y="1307592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1655064"/>
            <a:ext cx="8686800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74320" y="16733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— Match real world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11880" y="1728216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FDEAEA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611880" y="172821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389120" y="1728216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FDEAEA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389120" y="172821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66360" y="16733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account, two apps — breaks user's mental model of their wealth.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458200" y="1728216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74320" y="2075688"/>
            <a:ext cx="8686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74320" y="209397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— Consistency &amp; standards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11880" y="2148840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FDEAEA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611880" y="21488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389120" y="2148840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FDEAEA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389120" y="21488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66360" y="2093976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'Portfolio' means different things in each app. Two search systems.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458200" y="214884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2496312"/>
            <a:ext cx="8686800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27432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 — Error prevention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11880" y="2569464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E8F5EE"/>
          </a:solidFill>
          <a:ln w="12700">
            <a:solidFill>
              <a:srgbClr val="1E8A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611880" y="256946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389120" y="2569464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E8F5EE"/>
          </a:solidFill>
          <a:ln w="12700">
            <a:solidFill>
              <a:srgbClr val="1E8A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389120" y="256946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66360" y="25146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Kite's 'slide to buy' + OTP is excellent. Coin is good. ✓ Keep.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458200" y="2569464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74320" y="2916936"/>
            <a:ext cx="8686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274320" y="293522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 — Recognition over recall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611880" y="2990088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FDF6E3"/>
          </a:solidFill>
          <a:ln w="12700">
            <a:solidFill>
              <a:srgbClr val="B87B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3611880" y="299008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7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389120" y="2990088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FDF6E3"/>
          </a:solidFill>
          <a:ln w="12700">
            <a:solidFill>
              <a:srgbClr val="B87B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389120" y="299008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7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166360" y="293522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 finds MF in search but forces switch to Coin to invest.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458200" y="2990088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274320" y="3337560"/>
            <a:ext cx="8686800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274320" y="33558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H7 — Flexibility &amp; efficiency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611880" y="3410712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E8F5EE"/>
          </a:solidFill>
          <a:ln w="12700">
            <a:solidFill>
              <a:srgbClr val="1E8A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611880" y="34107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389120" y="3410712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E8F5EE"/>
          </a:solidFill>
          <a:ln w="12700">
            <a:solidFill>
              <a:srgbClr val="1E8A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4389120" y="34107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166360" y="335584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 has GTT/bracket orders for power users. Coin has no shortcuts.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8458200" y="3410712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74320" y="3758184"/>
            <a:ext cx="8686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274320" y="37764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H10 — Help &amp; documentation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611880" y="3831336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FDF6E3"/>
          </a:solidFill>
          <a:ln w="12700">
            <a:solidFill>
              <a:srgbClr val="B87B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3611880" y="38313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7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389120" y="3831336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FDF6E3"/>
          </a:solidFill>
          <a:ln w="12700">
            <a:solidFill>
              <a:srgbClr val="B87B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4389120" y="38313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7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166360" y="377647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in-context help for NAV, CAGR, Direct vs Regular. No tooltips.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8458200" y="3831336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274320" y="48006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failures on H2 (mental model) and H4 (consistency) are the primary redesign drivers.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USER JOURNEY 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Task: Invest ₹5,000 — ₹3,000 in HDFC Bank + ₹2,000 Parag Parikh SIP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212080" cy="320040"/>
          </a:xfrm>
          <a:prstGeom prst="rect">
            <a:avLst/>
          </a:prstGeom>
          <a:solidFill>
            <a:srgbClr val="387ED1"/>
          </a:solidFill>
          <a:ln w="1270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ZERODHA (Kite + Coin)  —  14 steps, 1 app switch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0" y="960120"/>
            <a:ext cx="3291840" cy="320040"/>
          </a:xfrm>
          <a:prstGeom prst="rect">
            <a:avLst/>
          </a:prstGeom>
          <a:solidFill>
            <a:srgbClr val="1E8A54"/>
          </a:solidFill>
          <a:ln w="12700">
            <a:solidFill>
              <a:srgbClr val="1E8A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669280" y="960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ONE  —  7 steps, 0 switches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" y="1371600"/>
            <a:ext cx="713232" cy="502920"/>
          </a:xfrm>
          <a:prstGeom prst="roundRect">
            <a:avLst>
              <a:gd name="adj" fmla="val 9091"/>
            </a:avLst>
          </a:prstGeom>
          <a:solidFill>
            <a:srgbClr val="EBF2FC"/>
          </a:solidFill>
          <a:ln w="1270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92608" y="139903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7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" y="159105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Kite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005840" y="1623060"/>
            <a:ext cx="18288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24128" y="1371600"/>
            <a:ext cx="713232" cy="502920"/>
          </a:xfrm>
          <a:prstGeom prst="roundRect">
            <a:avLst>
              <a:gd name="adj" fmla="val 9091"/>
            </a:avLst>
          </a:prstGeom>
          <a:solidFill>
            <a:srgbClr val="EBF2FC"/>
          </a:solidFill>
          <a:ln w="1270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24128" y="139903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7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60704" y="159105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HDFCBANK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737360" y="1623060"/>
            <a:ext cx="18288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755648" y="1371600"/>
            <a:ext cx="713232" cy="502920"/>
          </a:xfrm>
          <a:prstGeom prst="roundRect">
            <a:avLst>
              <a:gd name="adj" fmla="val 9091"/>
            </a:avLst>
          </a:prstGeom>
          <a:solidFill>
            <a:srgbClr val="EBF2FC"/>
          </a:solidFill>
          <a:ln w="1270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755648" y="139903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7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92224" y="159105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stock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468880" y="1623060"/>
            <a:ext cx="18288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487168" y="1371600"/>
            <a:ext cx="713232" cy="502920"/>
          </a:xfrm>
          <a:prstGeom prst="roundRect">
            <a:avLst>
              <a:gd name="adj" fmla="val 9091"/>
            </a:avLst>
          </a:prstGeom>
          <a:solidFill>
            <a:srgbClr val="EBF2FC"/>
          </a:solidFill>
          <a:ln w="1270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487168" y="139903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7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23744" y="159105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→ buy panel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200400" y="1623060"/>
            <a:ext cx="18288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218688" y="1371600"/>
            <a:ext cx="713232" cy="502920"/>
          </a:xfrm>
          <a:prstGeom prst="roundRect">
            <a:avLst>
              <a:gd name="adj" fmla="val 9091"/>
            </a:avLst>
          </a:prstGeom>
          <a:solidFill>
            <a:srgbClr val="FDF6E3"/>
          </a:solidFill>
          <a:ln w="12700">
            <a:solidFill>
              <a:srgbClr val="B87B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18688" y="139903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7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55264" y="1591056"/>
            <a:ext cx="612648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qty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3931920" y="1623060"/>
            <a:ext cx="18288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950208" y="1371600"/>
            <a:ext cx="713232" cy="502920"/>
          </a:xfrm>
          <a:prstGeom prst="roundRect">
            <a:avLst>
              <a:gd name="adj" fmla="val 9091"/>
            </a:avLst>
          </a:prstGeom>
          <a:solidFill>
            <a:srgbClr val="EBF2FC"/>
          </a:solidFill>
          <a:ln w="1270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950208" y="139903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7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86784" y="159105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to buy + OTP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663440" y="1623060"/>
            <a:ext cx="18288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681728" y="1371600"/>
            <a:ext cx="713232" cy="502920"/>
          </a:xfrm>
          <a:prstGeom prst="roundRect">
            <a:avLst>
              <a:gd name="adj" fmla="val 9091"/>
            </a:avLst>
          </a:prstGeom>
          <a:solidFill>
            <a:srgbClr val="FDEAEA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681728" y="139903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18304" y="159105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SWITCH → Coin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92608" y="1929384"/>
            <a:ext cx="713232" cy="502920"/>
          </a:xfrm>
          <a:prstGeom prst="roundRect">
            <a:avLst>
              <a:gd name="adj" fmla="val 9091"/>
            </a:avLst>
          </a:prstGeom>
          <a:solidFill>
            <a:srgbClr val="FDF6E3"/>
          </a:solidFill>
          <a:ln w="12700">
            <a:solidFill>
              <a:srgbClr val="B87B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92608" y="1956816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7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9184" y="21488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Re-orient to Coin UI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005840" y="2180844"/>
            <a:ext cx="18288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1024128" y="1929384"/>
            <a:ext cx="713232" cy="502920"/>
          </a:xfrm>
          <a:prstGeom prst="roundRect">
            <a:avLst>
              <a:gd name="adj" fmla="val 9091"/>
            </a:avLst>
          </a:prstGeom>
          <a:solidFill>
            <a:srgbClr val="EEF0FD"/>
          </a:solidFill>
          <a:ln w="12700">
            <a:solidFill>
              <a:srgbClr val="5457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1024128" y="1956816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45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60704" y="21488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fund in Coin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737360" y="2180844"/>
            <a:ext cx="18288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1755648" y="1929384"/>
            <a:ext cx="713232" cy="502920"/>
          </a:xfrm>
          <a:prstGeom prst="roundRect">
            <a:avLst>
              <a:gd name="adj" fmla="val 9091"/>
            </a:avLst>
          </a:prstGeom>
          <a:solidFill>
            <a:srgbClr val="EEF0FD"/>
          </a:solidFill>
          <a:ln w="12700">
            <a:solidFill>
              <a:srgbClr val="5457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1755648" y="1956816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45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792224" y="21488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Direct plan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468880" y="2180844"/>
            <a:ext cx="18288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2487168" y="1929384"/>
            <a:ext cx="713232" cy="502920"/>
          </a:xfrm>
          <a:prstGeom prst="roundRect">
            <a:avLst>
              <a:gd name="adj" fmla="val 9091"/>
            </a:avLst>
          </a:prstGeom>
          <a:solidFill>
            <a:srgbClr val="EEF0FD"/>
          </a:solidFill>
          <a:ln w="12700">
            <a:solidFill>
              <a:srgbClr val="5457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487168" y="1956816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45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523744" y="21488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SIP type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200400" y="2180844"/>
            <a:ext cx="18288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3218688" y="1929384"/>
            <a:ext cx="713232" cy="502920"/>
          </a:xfrm>
          <a:prstGeom prst="roundRect">
            <a:avLst>
              <a:gd name="adj" fmla="val 9091"/>
            </a:avLst>
          </a:prstGeom>
          <a:solidFill>
            <a:srgbClr val="EEF0FD"/>
          </a:solidFill>
          <a:ln w="12700">
            <a:solidFill>
              <a:srgbClr val="5457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218688" y="1956816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45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255264" y="21488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₹2,000 + date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931920" y="2180844"/>
            <a:ext cx="18288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3950208" y="1929384"/>
            <a:ext cx="713232" cy="502920"/>
          </a:xfrm>
          <a:prstGeom prst="roundRect">
            <a:avLst>
              <a:gd name="adj" fmla="val 9091"/>
            </a:avLst>
          </a:prstGeom>
          <a:solidFill>
            <a:srgbClr val="EEF0FD"/>
          </a:solidFill>
          <a:ln w="12700">
            <a:solidFill>
              <a:srgbClr val="5457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950208" y="1956816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45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986784" y="21488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+ OTP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663440" y="2180844"/>
            <a:ext cx="18288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4681728" y="1929384"/>
            <a:ext cx="713232" cy="502920"/>
          </a:xfrm>
          <a:prstGeom prst="roundRect">
            <a:avLst>
              <a:gd name="adj" fmla="val 9091"/>
            </a:avLst>
          </a:prstGeom>
          <a:solidFill>
            <a:srgbClr val="FDEAEA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681728" y="1956816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718304" y="21488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view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5687568" y="1371600"/>
            <a:ext cx="502920" cy="502920"/>
          </a:xfrm>
          <a:prstGeom prst="roundRect">
            <a:avLst>
              <a:gd name="adj" fmla="val 10417"/>
            </a:avLst>
          </a:prstGeom>
          <a:solidFill>
            <a:srgbClr val="F4F7FB"/>
          </a:solidFill>
          <a:ln w="12700">
            <a:solidFill>
              <a:srgbClr val="1E8A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5687568" y="1399032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715000" y="1591056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6199632" y="1380744"/>
            <a:ext cx="438912" cy="502920"/>
          </a:xfrm>
          <a:prstGeom prst="roundRect">
            <a:avLst>
              <a:gd name="adj" fmla="val 10417"/>
            </a:avLst>
          </a:prstGeom>
          <a:solidFill>
            <a:srgbClr val="F4F7FB"/>
          </a:solidFill>
          <a:ln w="12700">
            <a:solidFill>
              <a:srgbClr val="1E8A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6163056" y="1399032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190488" y="1591056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6638544" y="1371600"/>
            <a:ext cx="438912" cy="502920"/>
          </a:xfrm>
          <a:prstGeom prst="roundRect">
            <a:avLst>
              <a:gd name="adj" fmla="val 10417"/>
            </a:avLst>
          </a:prstGeom>
          <a:solidFill>
            <a:srgbClr val="F4F7FB"/>
          </a:solidFill>
          <a:ln w="12700">
            <a:solidFill>
              <a:srgbClr val="1E8A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6638544" y="1399032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665976" y="1591056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</a:p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7114032" y="1371600"/>
            <a:ext cx="438912" cy="502920"/>
          </a:xfrm>
          <a:prstGeom prst="roundRect">
            <a:avLst>
              <a:gd name="adj" fmla="val 10417"/>
            </a:avLst>
          </a:prstGeom>
          <a:solidFill>
            <a:srgbClr val="F4F7FB"/>
          </a:solidFill>
          <a:ln w="12700">
            <a:solidFill>
              <a:srgbClr val="1E8A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7114032" y="1399032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7141464" y="1591056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MF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5687568" y="1929384"/>
            <a:ext cx="438912" cy="502920"/>
          </a:xfrm>
          <a:prstGeom prst="roundRect">
            <a:avLst>
              <a:gd name="adj" fmla="val 10417"/>
            </a:avLst>
          </a:prstGeom>
          <a:solidFill>
            <a:srgbClr val="F4F7FB"/>
          </a:solidFill>
          <a:ln w="12700">
            <a:solidFill>
              <a:srgbClr val="1E8A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5687568" y="1956816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5715000" y="2148840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Fund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6163056" y="1929384"/>
            <a:ext cx="438912" cy="502920"/>
          </a:xfrm>
          <a:prstGeom prst="roundRect">
            <a:avLst>
              <a:gd name="adj" fmla="val 10417"/>
            </a:avLst>
          </a:prstGeom>
          <a:solidFill>
            <a:srgbClr val="F4F7FB"/>
          </a:solidFill>
          <a:ln w="12700">
            <a:solidFill>
              <a:srgbClr val="1E8A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6163056" y="1956816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6126480" y="21595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Amount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6655308" y="1915668"/>
            <a:ext cx="438912" cy="502920"/>
          </a:xfrm>
          <a:prstGeom prst="roundRect">
            <a:avLst>
              <a:gd name="adj" fmla="val 10417"/>
            </a:avLst>
          </a:prstGeom>
          <a:solidFill>
            <a:srgbClr val="E8F5EE"/>
          </a:solidFill>
          <a:ln w="12700">
            <a:solidFill>
              <a:srgbClr val="1E8A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6638544" y="1956816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6620256" y="214884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2286000" y="3200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steps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5303520" y="3200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5669280" y="3200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steps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2286000" y="3566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app switch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5303520" y="3566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5669280" y="3566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switches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2286000" y="3931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~5–6 min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5303520" y="39090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5669280" y="3931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~2–3 min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EVIDENCE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Screenshots — The Fragmented Experience vs The Benchmark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56616" y="1033272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51818" r="-51818"/>
          <a:stretch/>
        </p:blipFill>
        <p:spPr>
          <a:xfrm>
            <a:off x="914400" y="1124712"/>
            <a:ext cx="1417320" cy="1508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2624328"/>
            <a:ext cx="2606040" cy="54864"/>
          </a:xfrm>
          <a:prstGeom prst="rect">
            <a:avLst/>
          </a:prstGeom>
          <a:solidFill>
            <a:srgbClr val="387ED1"/>
          </a:solidFill>
          <a:ln w="1270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93192" y="2679192"/>
            <a:ext cx="2459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 — Watchlist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307592" y="2720340"/>
            <a:ext cx="2459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only. No MF visible.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191256" y="1033272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51818" r="-51818"/>
          <a:stretch/>
        </p:blipFill>
        <p:spPr>
          <a:xfrm>
            <a:off x="3749040" y="1124712"/>
            <a:ext cx="1417320" cy="15087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154680" y="2624328"/>
            <a:ext cx="2606040" cy="54864"/>
          </a:xfrm>
          <a:prstGeom prst="rect">
            <a:avLst/>
          </a:prstGeom>
          <a:solidFill>
            <a:srgbClr val="387ED1"/>
          </a:solidFill>
          <a:ln w="1270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4251960" y="2642616"/>
            <a:ext cx="2459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378452" y="2715768"/>
            <a:ext cx="2459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5989320" y="105156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l="-51818" r="-51818"/>
          <a:stretch/>
        </p:blipFill>
        <p:spPr>
          <a:xfrm>
            <a:off x="6583680" y="1124712"/>
            <a:ext cx="1417320" cy="150876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989320" y="2624328"/>
            <a:ext cx="2606040" cy="54864"/>
          </a:xfrm>
          <a:prstGeom prst="rect">
            <a:avLst/>
          </a:prstGeom>
          <a:solidFill>
            <a:srgbClr val="387ED1"/>
          </a:solidFill>
          <a:ln w="1270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6062472" y="2679192"/>
            <a:ext cx="2459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 — Holdings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6911340" y="2726436"/>
            <a:ext cx="2459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only. MF missing from P&amp;L.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320040" y="306324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l="-51818" r="-51818"/>
          <a:stretch/>
        </p:blipFill>
        <p:spPr>
          <a:xfrm>
            <a:off x="914400" y="3136392"/>
            <a:ext cx="1417320" cy="150876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320040" y="4636008"/>
            <a:ext cx="2606040" cy="54864"/>
          </a:xfrm>
          <a:prstGeom prst="rect">
            <a:avLst/>
          </a:prstGeom>
          <a:solidFill>
            <a:srgbClr val="5457C8"/>
          </a:solidFill>
          <a:ln w="12700">
            <a:solidFill>
              <a:srgbClr val="5457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7"/>
          <p:cNvSpPr/>
          <p:nvPr/>
        </p:nvSpPr>
        <p:spPr>
          <a:xfrm>
            <a:off x="393192" y="4690872"/>
            <a:ext cx="2459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— Discover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1293114" y="4722876"/>
            <a:ext cx="2459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app, different design language.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3154680" y="306324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 l="-51818" r="-51818"/>
          <a:stretch/>
        </p:blipFill>
        <p:spPr>
          <a:xfrm>
            <a:off x="3749040" y="3136392"/>
            <a:ext cx="1417320" cy="150876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3154680" y="4636008"/>
            <a:ext cx="2606040" cy="54864"/>
          </a:xfrm>
          <a:prstGeom prst="rect">
            <a:avLst/>
          </a:prstGeom>
          <a:solidFill>
            <a:srgbClr val="1E8A54"/>
          </a:solidFill>
          <a:ln w="12700">
            <a:solidFill>
              <a:srgbClr val="1E8A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1"/>
          <p:cNvSpPr/>
          <p:nvPr/>
        </p:nvSpPr>
        <p:spPr>
          <a:xfrm>
            <a:off x="3227832" y="4690872"/>
            <a:ext cx="2459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One — Home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4277868" y="4722876"/>
            <a:ext cx="2459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+ MF + F&amp;O in one place.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5989320" y="306324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rcRect l="-51818" r="-51818"/>
          <a:stretch/>
        </p:blipFill>
        <p:spPr>
          <a:xfrm>
            <a:off x="6583680" y="3136392"/>
            <a:ext cx="1417320" cy="150876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5989320" y="4636008"/>
            <a:ext cx="2606040" cy="54864"/>
          </a:xfrm>
          <a:prstGeom prst="rect">
            <a:avLst/>
          </a:prstGeom>
          <a:solidFill>
            <a:srgbClr val="1E8A54"/>
          </a:solidFill>
          <a:ln w="12700">
            <a:solidFill>
              <a:srgbClr val="1E8A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5"/>
          <p:cNvSpPr/>
          <p:nvPr/>
        </p:nvSpPr>
        <p:spPr>
          <a:xfrm>
            <a:off x="6062472" y="4690872"/>
            <a:ext cx="2459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One — Mutual Funds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7502652" y="4736592"/>
            <a:ext cx="2459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same app as stocks.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320040" y="3136392"/>
            <a:ext cx="2446020" cy="284988"/>
          </a:xfrm>
          <a:prstGeom prst="rect">
            <a:avLst/>
          </a:prstGeom>
          <a:solidFill>
            <a:srgbClr val="EBF2FC"/>
          </a:solidFill>
          <a:ln w="1270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28"/>
          <p:cNvSpPr/>
          <p:nvPr/>
        </p:nvSpPr>
        <p:spPr>
          <a:xfrm>
            <a:off x="320040" y="3136392"/>
            <a:ext cx="2532888" cy="284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7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ZERODHA (fragmented: 2 apps, 2 portfolio views, 2 search systems)</a:t>
            </a:r>
            <a:endParaRPr lang="en-US" sz="800" dirty="0"/>
          </a:p>
        </p:txBody>
      </p:sp>
      <p:sp>
        <p:nvSpPr>
          <p:cNvPr id="37" name="Shape 29"/>
          <p:cNvSpPr/>
          <p:nvPr/>
        </p:nvSpPr>
        <p:spPr>
          <a:xfrm>
            <a:off x="5852160" y="3136392"/>
            <a:ext cx="3017520" cy="182880"/>
          </a:xfrm>
          <a:prstGeom prst="rect">
            <a:avLst/>
          </a:prstGeom>
          <a:solidFill>
            <a:srgbClr val="E8F5EE"/>
          </a:solidFill>
          <a:ln w="12700">
            <a:solidFill>
              <a:srgbClr val="1E8A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0"/>
          <p:cNvSpPr/>
          <p:nvPr/>
        </p:nvSpPr>
        <p:spPr>
          <a:xfrm>
            <a:off x="5852160" y="313639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ANGEL ONE (unified: 1 app, 1 portfolio, 1 search)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COMPETITIVE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Zerodha vs Angel One vs Groww vs Upstox — 8 Dimensions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194560" cy="34747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/ Dimension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1005840"/>
            <a:ext cx="1508760" cy="347472"/>
          </a:xfrm>
          <a:prstGeom prst="rect">
            <a:avLst/>
          </a:prstGeom>
          <a:solidFill>
            <a:srgbClr val="387ED1"/>
          </a:solidFill>
          <a:ln w="1270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560320" y="10058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Zerodha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69080" y="1005840"/>
            <a:ext cx="1508760" cy="347472"/>
          </a:xfrm>
          <a:prstGeom prst="rect">
            <a:avLst/>
          </a:prstGeom>
          <a:solidFill>
            <a:srgbClr val="E85D1A"/>
          </a:solidFill>
          <a:ln w="12700">
            <a:solidFill>
              <a:srgbClr val="E85D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0" y="10058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One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23560" y="1005840"/>
            <a:ext cx="1508760" cy="347472"/>
          </a:xfrm>
          <a:prstGeom prst="rect">
            <a:avLst/>
          </a:prstGeom>
          <a:solidFill>
            <a:srgbClr val="2C7A2C"/>
          </a:solidFill>
          <a:ln w="12700">
            <a:solidFill>
              <a:srgbClr val="2C7A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669280" y="10058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78040" y="1005840"/>
            <a:ext cx="1508760" cy="347472"/>
          </a:xfrm>
          <a:prstGeom prst="rect">
            <a:avLst/>
          </a:prstGeom>
          <a:solidFill>
            <a:srgbClr val="5457C8"/>
          </a:solidFill>
          <a:ln w="12700">
            <a:solidFill>
              <a:srgbClr val="5457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223760" y="10058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Upstox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371600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" y="13990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app — Stocks + MF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87752" y="1435608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587752" y="1435608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Two apps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42232" y="1435608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142232" y="1435608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Unified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96712" y="1435608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696712" y="1435608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Unified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251192" y="1435608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251192" y="1435608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Unified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1801368"/>
            <a:ext cx="8412480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18288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search (stocks + MF)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87752" y="1865376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587752" y="1865376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Separate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42232" y="1865376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142232" y="1865376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696712" y="1865376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696712" y="1865376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251192" y="1865376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251192" y="1865376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2231136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20040" y="22585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portfolio + P&amp;L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87752" y="2295144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587752" y="229514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Two views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142232" y="2295144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142232" y="229514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Combined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96712" y="2295144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696712" y="229514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Combined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251192" y="2295144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251192" y="229514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7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Partial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2660904"/>
            <a:ext cx="8412480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20040" y="268833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charting depth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587752" y="2724912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2587752" y="2724912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 Best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142232" y="2724912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142232" y="2724912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 Good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696712" y="2724912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696712" y="2724912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 Basic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251192" y="2724912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7251192" y="2724912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 Good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" y="3090672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320040" y="311810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F&amp;O tooling quality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587752" y="3154680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2587752" y="3154680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 Best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142232" y="3154680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142232" y="3154680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7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 Good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696712" y="3154680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5696712" y="3154680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None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251192" y="3154680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7251192" y="3154680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7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 Good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74320" y="3520440"/>
            <a:ext cx="8412480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320040" y="354787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direct plan (0 commission)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587752" y="3584448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2587752" y="3584448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Direct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142232" y="3584448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142232" y="3584448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Regular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696712" y="3584448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5696712" y="3584448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Direct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251192" y="3584448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7251192" y="3584448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7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Partial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74320" y="3950208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320040" y="3977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discovery UX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587752" y="4014216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2587752" y="4014216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7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Adequate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142232" y="4014216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4142232" y="4014216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Good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5696712" y="4014216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5696712" y="4014216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 Best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7251192" y="4014216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7251192" y="4014216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7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Adequate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274320" y="4379976"/>
            <a:ext cx="8412480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320040" y="440740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 consistency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2587752" y="4443984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2587752" y="444398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Split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142232" y="4443984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4142232" y="444398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5696712" y="4443984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5696712" y="444398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Best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7251192" y="4443984"/>
            <a:ext cx="1362456" cy="274320"/>
          </a:xfrm>
          <a:prstGeom prst="roundRect">
            <a:avLst>
              <a:gd name="adj" fmla="val 13333"/>
            </a:avLst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7251192" y="4443984"/>
            <a:ext cx="1362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274320" y="4828032"/>
            <a:ext cx="8412480" cy="228600"/>
          </a:xfrm>
          <a:prstGeom prst="rect">
            <a:avLst/>
          </a:prstGeom>
          <a:solidFill>
            <a:srgbClr val="EBF2FC"/>
          </a:solidFill>
          <a:ln w="1270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36576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87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Zerodha's F&amp;O + charting tools are genuinely best-in-class. The redesign must add MF integration without touching these — an additive layer, not a rebrand.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REDESIGN PROPOSAL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Surgical Integration — Coin inside Kite, Zero Trading Regression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737360" cy="3108960"/>
          </a:xfrm>
          <a:prstGeom prst="roundRect">
            <a:avLst>
              <a:gd name="adj" fmla="val 7895"/>
            </a:avLst>
          </a:prstGeom>
          <a:solidFill>
            <a:srgbClr val="1A1A2E"/>
          </a:solidFill>
          <a:ln w="12700">
            <a:solidFill>
              <a:srgbClr val="37415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93192" y="1143000"/>
            <a:ext cx="1591056" cy="2834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108960" y="1005840"/>
            <a:ext cx="1737360" cy="3108960"/>
          </a:xfrm>
          <a:prstGeom prst="roundRect">
            <a:avLst>
              <a:gd name="adj" fmla="val 7895"/>
            </a:avLst>
          </a:prstGeom>
          <a:solidFill>
            <a:srgbClr val="1A1A2E"/>
          </a:solidFill>
          <a:ln w="12700">
            <a:solidFill>
              <a:srgbClr val="37415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182112" y="1143000"/>
            <a:ext cx="1591056" cy="2834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897880" y="1005840"/>
            <a:ext cx="1737360" cy="3108960"/>
          </a:xfrm>
          <a:prstGeom prst="roundRect">
            <a:avLst>
              <a:gd name="adj" fmla="val 7895"/>
            </a:avLst>
          </a:prstGeom>
          <a:solidFill>
            <a:srgbClr val="1A1A2E"/>
          </a:solidFill>
          <a:ln w="12700">
            <a:solidFill>
              <a:srgbClr val="37415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971032" y="1143000"/>
            <a:ext cx="1591056" cy="2834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93192" y="1143000"/>
            <a:ext cx="1591056" cy="18288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93192" y="1143000"/>
            <a:ext cx="1591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▲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38912" y="1344168"/>
            <a:ext cx="1499616" cy="256032"/>
          </a:xfrm>
          <a:prstGeom prst="roundRect">
            <a:avLst>
              <a:gd name="adj" fmla="val 21429"/>
            </a:avLst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6344" y="1344168"/>
            <a:ext cx="1472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 stocks and funds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38912" y="1645920"/>
            <a:ext cx="1499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87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29768" y="1810512"/>
            <a:ext cx="1517904" cy="29260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1828800"/>
            <a:ext cx="7315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HDFCBANK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216152" y="1828800"/>
            <a:ext cx="640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₹1,346.80 ▲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216152" y="1956816"/>
            <a:ext cx="6400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+0.09%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29768" y="2130552"/>
            <a:ext cx="1517904" cy="29260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2148840"/>
            <a:ext cx="7315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HDFCAMC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216152" y="2148840"/>
            <a:ext cx="640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₹2,792.40 ▲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216152" y="2276856"/>
            <a:ext cx="6400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+4.89%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38912" y="2468880"/>
            <a:ext cx="1499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29768" y="2633472"/>
            <a:ext cx="1517904" cy="29260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" y="2651760"/>
            <a:ext cx="10058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Flexi Cap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57200" y="2779776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· Growth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1636776" y="2688336"/>
            <a:ext cx="256032" cy="164592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636776" y="2688336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429768" y="2953512"/>
            <a:ext cx="1517904" cy="29260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57200" y="2971800"/>
            <a:ext cx="10058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Mid-Cap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57200" y="3099816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· Growth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1636776" y="3008376"/>
            <a:ext cx="256032" cy="164592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636776" y="3008376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393192" y="3749040"/>
            <a:ext cx="1591056" cy="320040"/>
          </a:xfrm>
          <a:prstGeom prst="rect">
            <a:avLst/>
          </a:prstGeom>
          <a:solidFill>
            <a:srgbClr val="1E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93192" y="3776472"/>
            <a:ext cx="393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387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550" dirty="0"/>
          </a:p>
        </p:txBody>
      </p:sp>
      <p:sp>
        <p:nvSpPr>
          <p:cNvPr id="37" name="Text 35"/>
          <p:cNvSpPr/>
          <p:nvPr/>
        </p:nvSpPr>
        <p:spPr>
          <a:xfrm>
            <a:off x="786384" y="3776472"/>
            <a:ext cx="393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550" dirty="0"/>
          </a:p>
        </p:txBody>
      </p:sp>
      <p:sp>
        <p:nvSpPr>
          <p:cNvPr id="38" name="Text 36"/>
          <p:cNvSpPr/>
          <p:nvPr/>
        </p:nvSpPr>
        <p:spPr>
          <a:xfrm>
            <a:off x="1179576" y="3776472"/>
            <a:ext cx="393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550" dirty="0"/>
          </a:p>
        </p:txBody>
      </p:sp>
      <p:sp>
        <p:nvSpPr>
          <p:cNvPr id="39" name="Text 37"/>
          <p:cNvSpPr/>
          <p:nvPr/>
        </p:nvSpPr>
        <p:spPr>
          <a:xfrm>
            <a:off x="1572768" y="3776472"/>
            <a:ext cx="393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</a:t>
            </a:r>
            <a:endParaRPr lang="en-US" sz="550" dirty="0"/>
          </a:p>
        </p:txBody>
      </p:sp>
      <p:sp>
        <p:nvSpPr>
          <p:cNvPr id="40" name="Shape 38"/>
          <p:cNvSpPr/>
          <p:nvPr/>
        </p:nvSpPr>
        <p:spPr>
          <a:xfrm>
            <a:off x="3182112" y="1143000"/>
            <a:ext cx="1591056" cy="18288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182112" y="1161288"/>
            <a:ext cx="1591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218688" y="1362456"/>
            <a:ext cx="484632" cy="201168"/>
          </a:xfrm>
          <a:prstGeom prst="rect">
            <a:avLst/>
          </a:prstGeom>
          <a:solidFill>
            <a:srgbClr val="1F2937"/>
          </a:solidFill>
          <a:ln w="12700">
            <a:solidFill>
              <a:srgbClr val="1E8A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218688" y="1362456"/>
            <a:ext cx="484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3721608" y="1362456"/>
            <a:ext cx="484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4224528" y="1362456"/>
            <a:ext cx="484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3218688" y="1600200"/>
            <a:ext cx="1517904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255264" y="1636776"/>
            <a:ext cx="14447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Portfolio Value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3255264" y="1764792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₹4,82,540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3255264" y="2011680"/>
            <a:ext cx="1444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+₹4,028  +0.84% today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255264" y="2313432"/>
            <a:ext cx="1444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Breakdown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218688" y="2496312"/>
            <a:ext cx="1032175" cy="146304"/>
          </a:xfrm>
          <a:prstGeom prst="rect">
            <a:avLst/>
          </a:prstGeom>
          <a:solidFill>
            <a:srgbClr val="387ED1"/>
          </a:solidFill>
          <a:ln w="1270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4250863" y="2496312"/>
            <a:ext cx="485729" cy="14630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236976" y="2660904"/>
            <a:ext cx="7315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87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68%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4096512" y="2660904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32%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3218688" y="2862072"/>
            <a:ext cx="1517904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3218688" y="2862072"/>
            <a:ext cx="36576" cy="365760"/>
          </a:xfrm>
          <a:prstGeom prst="rect">
            <a:avLst/>
          </a:prstGeom>
          <a:solidFill>
            <a:srgbClr val="387ED1"/>
          </a:solidFill>
          <a:ln w="1270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273552" y="2880360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Holdings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3273552" y="3044952"/>
            <a:ext cx="8229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stocks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4242816" y="295351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87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₹3,28,450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18688" y="3273552"/>
            <a:ext cx="1517904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3218688" y="3273552"/>
            <a:ext cx="36576" cy="3657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3273552" y="3291840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3273552" y="3456432"/>
            <a:ext cx="8229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fund + 1 SIP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4242816" y="336499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₹1,54,090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218688" y="3703320"/>
            <a:ext cx="1517904" cy="256032"/>
          </a:xfrm>
          <a:prstGeom prst="roundRect">
            <a:avLst>
              <a:gd name="adj" fmla="val 14286"/>
            </a:avLst>
          </a:prstGeom>
          <a:solidFill>
            <a:srgbClr val="FDF6E3"/>
          </a:solidFill>
          <a:ln w="12700">
            <a:solidFill>
              <a:srgbClr val="B87B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3246120" y="3703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B87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Summary (FY26): Est. LTCG ₹12,400 · STCG ₹3,200  →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3182112" y="3749040"/>
            <a:ext cx="1591056" cy="320040"/>
          </a:xfrm>
          <a:prstGeom prst="rect">
            <a:avLst/>
          </a:prstGeom>
          <a:solidFill>
            <a:srgbClr val="1E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3182112" y="3776472"/>
            <a:ext cx="393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550" dirty="0"/>
          </a:p>
        </p:txBody>
      </p:sp>
      <p:sp>
        <p:nvSpPr>
          <p:cNvPr id="69" name="Text 67"/>
          <p:cNvSpPr/>
          <p:nvPr/>
        </p:nvSpPr>
        <p:spPr>
          <a:xfrm>
            <a:off x="3575304" y="3776472"/>
            <a:ext cx="393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550" dirty="0"/>
          </a:p>
        </p:txBody>
      </p:sp>
      <p:sp>
        <p:nvSpPr>
          <p:cNvPr id="70" name="Text 68"/>
          <p:cNvSpPr/>
          <p:nvPr/>
        </p:nvSpPr>
        <p:spPr>
          <a:xfrm>
            <a:off x="3968496" y="3776472"/>
            <a:ext cx="393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550" dirty="0"/>
          </a:p>
        </p:txBody>
      </p:sp>
      <p:sp>
        <p:nvSpPr>
          <p:cNvPr id="71" name="Text 69"/>
          <p:cNvSpPr/>
          <p:nvPr/>
        </p:nvSpPr>
        <p:spPr>
          <a:xfrm>
            <a:off x="4361688" y="3776472"/>
            <a:ext cx="393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</a:t>
            </a:r>
            <a:endParaRPr lang="en-US" sz="550" dirty="0"/>
          </a:p>
        </p:txBody>
      </p:sp>
      <p:sp>
        <p:nvSpPr>
          <p:cNvPr id="72" name="Shape 70"/>
          <p:cNvSpPr/>
          <p:nvPr/>
        </p:nvSpPr>
        <p:spPr>
          <a:xfrm>
            <a:off x="5971032" y="1143000"/>
            <a:ext cx="1591056" cy="18288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5971032" y="1143000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Parag Parikh Flexi Cap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6007608" y="1362456"/>
            <a:ext cx="1517904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6044184" y="1399032"/>
            <a:ext cx="14447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 Parikh Flexi Cap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6044184" y="1545336"/>
            <a:ext cx="14447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· Growth · Equity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6044184" y="1691640"/>
            <a:ext cx="14447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3Y: 19%/yr  ·  1.9L investors  ·  Min SIP ₹1,000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6007608" y="2057400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6007608" y="2057400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6812280" y="2057400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6812280" y="2057400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6044184" y="2331720"/>
            <a:ext cx="14447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Amount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6007608" y="2496312"/>
            <a:ext cx="1517904" cy="292608"/>
          </a:xfrm>
          <a:prstGeom prst="rect">
            <a:avLst/>
          </a:prstGeom>
          <a:solidFill>
            <a:srgbClr val="1F2937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6044184" y="2496312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 2,000</a:t>
            </a:r>
            <a:endParaRPr lang="en-US" sz="1400" dirty="0"/>
          </a:p>
        </p:txBody>
      </p:sp>
      <p:sp>
        <p:nvSpPr>
          <p:cNvPr id="85" name="Text 83"/>
          <p:cNvSpPr/>
          <p:nvPr/>
        </p:nvSpPr>
        <p:spPr>
          <a:xfrm>
            <a:off x="6044184" y="2843784"/>
            <a:ext cx="14447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Date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6007608" y="3008376"/>
            <a:ext cx="1517904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6044184" y="3008376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10th of every month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007608" y="3355848"/>
            <a:ext cx="1517904" cy="347472"/>
          </a:xfrm>
          <a:prstGeom prst="roundRect">
            <a:avLst>
              <a:gd name="adj" fmla="val 15789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6007608" y="3355848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SIP →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6007608" y="3749040"/>
            <a:ext cx="15179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switch needed — this is Kite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5971032" y="3749040"/>
            <a:ext cx="1591056" cy="320040"/>
          </a:xfrm>
          <a:prstGeom prst="rect">
            <a:avLst/>
          </a:prstGeom>
          <a:solidFill>
            <a:srgbClr val="1E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5971032" y="3776472"/>
            <a:ext cx="393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550" dirty="0"/>
          </a:p>
        </p:txBody>
      </p:sp>
      <p:sp>
        <p:nvSpPr>
          <p:cNvPr id="93" name="Text 91"/>
          <p:cNvSpPr/>
          <p:nvPr/>
        </p:nvSpPr>
        <p:spPr>
          <a:xfrm>
            <a:off x="6364224" y="3776472"/>
            <a:ext cx="393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550" dirty="0"/>
          </a:p>
        </p:txBody>
      </p:sp>
      <p:sp>
        <p:nvSpPr>
          <p:cNvPr id="94" name="Text 92"/>
          <p:cNvSpPr/>
          <p:nvPr/>
        </p:nvSpPr>
        <p:spPr>
          <a:xfrm>
            <a:off x="6757416" y="3776472"/>
            <a:ext cx="393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550" dirty="0"/>
          </a:p>
        </p:txBody>
      </p:sp>
      <p:sp>
        <p:nvSpPr>
          <p:cNvPr id="95" name="Text 93"/>
          <p:cNvSpPr/>
          <p:nvPr/>
        </p:nvSpPr>
        <p:spPr>
          <a:xfrm>
            <a:off x="7150608" y="3776472"/>
            <a:ext cx="393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</a:t>
            </a:r>
            <a:endParaRPr lang="en-US" sz="550" dirty="0"/>
          </a:p>
        </p:txBody>
      </p:sp>
      <p:sp>
        <p:nvSpPr>
          <p:cNvPr id="96" name="Text 94"/>
          <p:cNvSpPr/>
          <p:nvPr/>
        </p:nvSpPr>
        <p:spPr>
          <a:xfrm>
            <a:off x="320040" y="41879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7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1: Unified Search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3108960" y="41879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2: Portfolio Overview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5897880" y="41879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7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3: Invest Flow (MF)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2176272" y="192024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Grouped results:</a:t>
            </a:r>
            <a:endParaRPr lang="en-US" sz="7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+ Funds</a:t>
            </a:r>
            <a:endParaRPr lang="en-US" sz="7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search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4965192" y="201168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Combined total:</a:t>
            </a:r>
            <a:endParaRPr lang="en-US" sz="7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+ MF P&amp;L</a:t>
            </a:r>
            <a:endParaRPr lang="en-US" sz="7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screen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7754112" y="246888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No redirect:</a:t>
            </a:r>
            <a:endParaRPr lang="en-US" sz="7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MF</a:t>
            </a:r>
            <a:endParaRPr lang="en-US" sz="7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in Kite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BEFORE / AFTER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 ₹5,000 in Stock + SIP — Experience Comparison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977640" cy="365760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—  Zerodha (Kite + Coin, current state)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92040" y="1005840"/>
            <a:ext cx="3977640" cy="365760"/>
          </a:xfrm>
          <a:prstGeom prst="rect">
            <a:avLst/>
          </a:prstGeom>
          <a:solidFill>
            <a:srgbClr val="1E8A54"/>
          </a:solidFill>
          <a:ln w="12700">
            <a:solidFill>
              <a:srgbClr val="1E8A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892040" y="10058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—  Unified Kite (proposed redesign)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3977640" cy="365760"/>
          </a:xfrm>
          <a:prstGeom prst="rect">
            <a:avLst/>
          </a:prstGeom>
          <a:solidFill>
            <a:srgbClr val="FDEAE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" y="145389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screens to complete task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1417320"/>
            <a:ext cx="3977640" cy="365760"/>
          </a:xfrm>
          <a:prstGeom prst="rect">
            <a:avLst/>
          </a:prstGeom>
          <a:solidFill>
            <a:srgbClr val="E8F5E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0" y="145389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screens to complete same task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828800"/>
            <a:ext cx="3977640" cy="365760"/>
          </a:xfrm>
          <a:prstGeom prst="rect">
            <a:avLst/>
          </a:prstGeom>
          <a:solidFill>
            <a:srgbClr val="FDEAE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186537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mandatory app switch mid-flow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92040" y="1828800"/>
            <a:ext cx="3977640" cy="365760"/>
          </a:xfrm>
          <a:prstGeom prst="rect">
            <a:avLst/>
          </a:prstGeom>
          <a:solidFill>
            <a:srgbClr val="E8F5E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0" y="186537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app switches required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240280"/>
            <a:ext cx="3977640" cy="365760"/>
          </a:xfrm>
          <a:prstGeom prst="rect">
            <a:avLst/>
          </a:prstGeom>
          <a:solidFill>
            <a:srgbClr val="FDEAE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227685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~5–6 min estimated time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2240280"/>
            <a:ext cx="3977640" cy="365760"/>
          </a:xfrm>
          <a:prstGeom prst="rect">
            <a:avLst/>
          </a:prstGeom>
          <a:solidFill>
            <a:srgbClr val="E8F5E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029200" y="227685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≤3 min estimated time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651760"/>
            <a:ext cx="3977640" cy="365760"/>
          </a:xfrm>
          <a:prstGeom prst="rect">
            <a:avLst/>
          </a:prstGeom>
          <a:solidFill>
            <a:srgbClr val="FDEAE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11480" y="268833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separate portfolio screens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2651760"/>
            <a:ext cx="3977640" cy="365760"/>
          </a:xfrm>
          <a:prstGeom prst="rect">
            <a:avLst/>
          </a:prstGeom>
          <a:solidFill>
            <a:srgbClr val="E8F5E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029200" y="268833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unified Portfolio Overview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063240"/>
            <a:ext cx="3977640" cy="365760"/>
          </a:xfrm>
          <a:prstGeom prst="rect">
            <a:avLst/>
          </a:prstGeom>
          <a:solidFill>
            <a:srgbClr val="FDEAE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11480" y="309981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combined P&amp;L visible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3063240"/>
            <a:ext cx="3977640" cy="365760"/>
          </a:xfrm>
          <a:prstGeom prst="rect">
            <a:avLst/>
          </a:prstGeom>
          <a:solidFill>
            <a:srgbClr val="E8F5E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029200" y="309981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P&amp;L across equity + MF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474720"/>
            <a:ext cx="3977640" cy="365760"/>
          </a:xfrm>
          <a:prstGeom prst="rect">
            <a:avLst/>
          </a:prstGeom>
          <a:solidFill>
            <a:srgbClr val="FDEAE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11480" y="351129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separate search systems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92040" y="3474720"/>
            <a:ext cx="3977640" cy="365760"/>
          </a:xfrm>
          <a:prstGeom prst="rect">
            <a:avLst/>
          </a:prstGeom>
          <a:solidFill>
            <a:srgbClr val="E8F5E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029200" y="351129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global search: stocks + funds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886200"/>
            <a:ext cx="3977640" cy="365760"/>
          </a:xfrm>
          <a:prstGeom prst="rect">
            <a:avLst/>
          </a:prstGeom>
          <a:solidFill>
            <a:srgbClr val="FDEAE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11480" y="392277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Coin: different design language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3886200"/>
            <a:ext cx="3977640" cy="365760"/>
          </a:xfrm>
          <a:prstGeom prst="rect">
            <a:avLst/>
          </a:prstGeom>
          <a:solidFill>
            <a:srgbClr val="E8F5E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029200" y="392277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Kite design throughout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297680"/>
            <a:ext cx="3977640" cy="365760"/>
          </a:xfrm>
          <a:prstGeom prst="rect">
            <a:avLst/>
          </a:prstGeom>
          <a:solidFill>
            <a:srgbClr val="E8F5E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11480" y="433425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 trading tools: PRESERVED ✓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92040" y="4297680"/>
            <a:ext cx="3977640" cy="365760"/>
          </a:xfrm>
          <a:prstGeom prst="rect">
            <a:avLst/>
          </a:prstGeom>
          <a:solidFill>
            <a:srgbClr val="E8F5E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029200" y="433425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 trading tools: PRESERVED ✓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160520" y="2331720"/>
            <a:ext cx="640080" cy="640080"/>
          </a:xfrm>
          <a:prstGeom prst="ellipse">
            <a:avLst/>
          </a:prstGeom>
          <a:solidFill>
            <a:srgbClr val="1E2D5A"/>
          </a:solidFill>
          <a:ln w="12700">
            <a:solidFill>
              <a:srgbClr val="2E4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16052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74320" y="4709160"/>
            <a:ext cx="8595360" cy="347472"/>
          </a:xfrm>
          <a:prstGeom prst="rect">
            <a:avLst/>
          </a:prstGeom>
          <a:solidFill>
            <a:srgbClr val="EBF2FC"/>
          </a:solidFill>
          <a:ln w="1270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65760" y="47091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−50% screens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542032" y="4773168"/>
            <a:ext cx="0" cy="219456"/>
          </a:xfrm>
          <a:prstGeom prst="line">
            <a:avLst/>
          </a:prstGeom>
          <a:noFill/>
          <a:ln w="635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542032" y="47091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−100% app switches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18304" y="4773168"/>
            <a:ext cx="0" cy="219456"/>
          </a:xfrm>
          <a:prstGeom prst="line">
            <a:avLst/>
          </a:prstGeom>
          <a:noFill/>
          <a:ln w="635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718304" y="47091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7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completion: 60% → 85%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894576" y="4773168"/>
            <a:ext cx="0" cy="219456"/>
          </a:xfrm>
          <a:prstGeom prst="line">
            <a:avLst/>
          </a:prstGeom>
          <a:noFill/>
          <a:ln w="635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894576" y="47091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 MF activation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PRD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MoSCoW Requirements + KPIs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103120" cy="274320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2103120" cy="1828800"/>
          </a:xfrm>
          <a:prstGeom prst="rect">
            <a:avLst/>
          </a:prstGeom>
          <a:solidFill>
            <a:srgbClr val="FDEAEA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7472" y="1371600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Unified Portfolio Overview tab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709928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MF tab in Kite Portfolio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2048256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Invest in MF from Kite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2386584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trading regressions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2724912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Combined equity + MF P&amp;L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1005840"/>
            <a:ext cx="2103120" cy="274320"/>
          </a:xfrm>
          <a:prstGeom prst="rect">
            <a:avLst/>
          </a:prstGeom>
          <a:solidFill>
            <a:srgbClr val="B87B0A"/>
          </a:solidFill>
          <a:ln w="12700">
            <a:solidFill>
              <a:srgbClr val="B87B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468880" y="1005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1298448"/>
            <a:ext cx="2103120" cy="1828800"/>
          </a:xfrm>
          <a:prstGeom prst="rect">
            <a:avLst/>
          </a:prstGeom>
          <a:solidFill>
            <a:srgbClr val="FDF6E3"/>
          </a:solidFill>
          <a:ln w="12700">
            <a:solidFill>
              <a:srgbClr val="B87B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542032" y="1371600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search: stocks + MF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42032" y="1709928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SIP manage from Kite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42032" y="2048256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Asset allocation chart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42032" y="2386584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Tax summary card (STCG/LTCG)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42032" y="2724912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SIP push notifications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1005840"/>
            <a:ext cx="2103120" cy="274320"/>
          </a:xfrm>
          <a:prstGeom prst="rect">
            <a:avLst/>
          </a:prstGeom>
          <a:solidFill>
            <a:srgbClr val="387ED1"/>
          </a:solidFill>
          <a:ln w="1270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663440" y="1005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HAVE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1298448"/>
            <a:ext cx="2103120" cy="1828800"/>
          </a:xfrm>
          <a:prstGeom prst="rect">
            <a:avLst/>
          </a:prstGeom>
          <a:solidFill>
            <a:srgbClr val="EBF2FC"/>
          </a:solidFill>
          <a:ln w="1270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736592" y="1371600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Cross-instrument watchlist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36592" y="1709928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Goal-based SIP wizard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36592" y="2048256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MF vs stock comparison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36592" y="2386584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Consolidated statement export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36592" y="2724912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Liquidity score view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58000" y="1005840"/>
            <a:ext cx="2103120" cy="274320"/>
          </a:xfrm>
          <a:prstGeom prst="rect">
            <a:avLst/>
          </a:prstGeom>
          <a:solidFill>
            <a:srgbClr val="8896B0"/>
          </a:solidFill>
          <a:ln w="12700">
            <a:solidFill>
              <a:srgbClr val="8896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858000" y="1005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(v1)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58000" y="1298448"/>
            <a:ext cx="2103120" cy="1828800"/>
          </a:xfrm>
          <a:prstGeom prst="rect">
            <a:avLst/>
          </a:prstGeom>
          <a:solidFill>
            <a:srgbClr val="F4F7FB"/>
          </a:solidFill>
          <a:ln w="12700">
            <a:solidFill>
              <a:srgbClr val="8896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931152" y="1371600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Coin deprecation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31152" y="1709928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NPS/bonds/FD integration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31152" y="2048256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F&amp;O analytics changes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31152" y="2386584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Social/copy trading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31152" y="2724912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charting engine for MF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3246120"/>
            <a:ext cx="8595360" cy="27432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063240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0060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2940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3538728"/>
            <a:ext cx="85953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20040" y="355701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(stock + SIP)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063240" y="355701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00600" y="355701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85%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629400" y="355701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analytics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74320" y="3794760"/>
            <a:ext cx="8595360" cy="237744"/>
          </a:xfrm>
          <a:prstGeom prst="rect">
            <a:avLst/>
          </a:prstGeom>
          <a:solidFill>
            <a:srgbClr val="F4F7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20040" y="38130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Cross-product MF activation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063240" y="381304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00600" y="38130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 MF via Kite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629400" y="381304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source tracking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74320" y="4050792"/>
            <a:ext cx="85953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20040" y="406908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Time-on-task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063240" y="406908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~5–6 min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800600" y="406908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 min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629400" y="406908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testing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74320" y="4306824"/>
            <a:ext cx="8595360" cy="237744"/>
          </a:xfrm>
          <a:prstGeom prst="rect">
            <a:avLst/>
          </a:prstGeom>
          <a:solidFill>
            <a:srgbClr val="F4F7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320040" y="432511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tab DAU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063240" y="432511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800600" y="432511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629400" y="432511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analytics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74320" y="4562856"/>
            <a:ext cx="85953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320040" y="45811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post-launch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063240" y="458114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800600" y="458114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NPS pts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629400" y="458114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survey (30d)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7ED1"/>
          </a:solidFill>
          <a:ln w="1270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43369"/>
          </a:solidFill>
          <a:ln w="12700">
            <a:solidFill>
              <a:srgbClr val="2433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572000" cy="0"/>
          </a:xfrm>
          <a:prstGeom prst="line">
            <a:avLst/>
          </a:prstGeom>
          <a:noFill/>
          <a:ln w="1905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A8B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Zerodha has the best stock trading tools in India.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A8B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Zerodha has the best MF direct platform in India.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A8B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just never talked to each other.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243369"/>
          </a:solidFill>
          <a:ln w="1270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24505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7E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Surgical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2834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A8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tab in existing Portfolio — no Kite redesign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0" y="23774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243369"/>
          </a:solidFill>
          <a:ln w="1270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286000" y="24505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7E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Additive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377440" y="2834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A8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tools preserved exactly as-is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51960" y="23774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243369"/>
          </a:solidFill>
          <a:ln w="12700">
            <a:solidFill>
              <a:srgbClr val="387E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251960" y="24505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7E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343400" y="2834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A8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search, one portfolio, one P&amp;L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36118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3886200"/>
            <a:ext cx="5943600" cy="82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0040" y="3968496"/>
            <a:ext cx="5943600" cy="82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0040" y="4050792"/>
            <a:ext cx="5943600" cy="82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0040" y="4133088"/>
            <a:ext cx="5943600" cy="82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0040" y="4215384"/>
            <a:ext cx="5943600" cy="82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0040" y="4297680"/>
            <a:ext cx="5943600" cy="82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0040" y="4379976"/>
            <a:ext cx="5943600" cy="82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Zerodha Kite + Coin  ·  UX Audit &amp; Redesign  ·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1456</Words>
  <Application>Microsoft Office PowerPoint</Application>
  <PresentationFormat>On-screen Show (16:9)</PresentationFormat>
  <Paragraphs>346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Zerodha Kite + Coin — UX Audit &amp; Redesign</dc:title>
  <dc:subject>PptxGenJS Presentation</dc:subject>
  <dc:creator>UX Research &amp; Design</dc:creator>
  <cp:lastModifiedBy>Shivarjun Reddy Palla</cp:lastModifiedBy>
  <cp:revision>4</cp:revision>
  <dcterms:created xsi:type="dcterms:W3CDTF">2026-04-18T14:06:56Z</dcterms:created>
  <dcterms:modified xsi:type="dcterms:W3CDTF">2026-04-18T15:23:09Z</dcterms:modified>
</cp:coreProperties>
</file>